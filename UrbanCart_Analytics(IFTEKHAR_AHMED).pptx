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3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4.xml" ContentType="application/vnd.openxmlformats-officedocument.drawingml.char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rts/chart5.xml" ContentType="application/vnd.openxmlformats-officedocument.drawingml.char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2" d="100"/>
          <a:sy n="92" d="100"/>
        </p:scale>
        <p:origin x="75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B2A4A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1B2A4A"/>
                </a:solidFill>
                <a:latin typeface="Arial"/>
              </a:rPr>
              <a:t>Revenue by City (</a:t>
            </a:r>
            <a:r>
              <a:rPr lang="as-IN" sz="1200" b="0" i="0" u="none" strike="noStrike">
                <a:solidFill>
                  <a:srgbClr val="1B2A4A"/>
                </a:solidFill>
                <a:latin typeface="Arial"/>
              </a:rPr>
              <a:t>৳)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(est.)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443D-4059-89A1-27822F4A64EE}"/>
              </c:ext>
            </c:extLst>
          </c:dPt>
          <c:dPt>
            <c:idx val="1"/>
            <c:invertIfNegative val="0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443D-4059-89A1-27822F4A64EE}"/>
              </c:ext>
            </c:extLst>
          </c:dPt>
          <c:dPt>
            <c:idx val="2"/>
            <c:invertIfNegative val="0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443D-4059-89A1-27822F4A64EE}"/>
              </c:ext>
            </c:extLst>
          </c:dPt>
          <c:dPt>
            <c:idx val="3"/>
            <c:invertIfNegative val="0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443D-4059-89A1-27822F4A64EE}"/>
              </c:ext>
            </c:extLst>
          </c:dPt>
          <c:dPt>
            <c:idx val="4"/>
            <c:invertIfNegative val="0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443D-4059-89A1-27822F4A64EE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F172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Dhaka</c:v>
                </c:pt>
                <c:pt idx="1">
                  <c:v>Chattogram</c:v>
                </c:pt>
                <c:pt idx="2">
                  <c:v>Rajshahi</c:v>
                </c:pt>
                <c:pt idx="3">
                  <c:v>Khulna</c:v>
                </c:pt>
                <c:pt idx="4">
                  <c:v>Sylhet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1850000</c:v>
                </c:pt>
                <c:pt idx="1">
                  <c:v>980000</c:v>
                </c:pt>
                <c:pt idx="2">
                  <c:v>720000</c:v>
                </c:pt>
                <c:pt idx="3">
                  <c:v>660000</c:v>
                </c:pt>
                <c:pt idx="4">
                  <c:v>590000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443D-4059-89A1-27822F4A64E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B2A4A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1B2A4A"/>
                </a:solidFill>
                <a:latin typeface="Arial"/>
              </a:rPr>
              <a:t>Monthly Orders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Orders</c:v>
                </c:pt>
              </c:strCache>
            </c:strRef>
          </c:tx>
          <c:spPr>
            <a:ln w="38100" cap="flat">
              <a:solidFill>
                <a:srgbClr val="0D948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D9488"/>
              </a:solidFill>
              <a:ln w="9525" cap="flat">
                <a:solidFill>
                  <a:srgbClr val="0D9488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F172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Sep</c:v>
                </c:pt>
                <c:pt idx="1">
                  <c:v>Oct</c:v>
                </c:pt>
                <c:pt idx="2">
                  <c:v>Nov</c:v>
                </c:pt>
                <c:pt idx="3">
                  <c:v>Dec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250</c:v>
                </c:pt>
                <c:pt idx="1">
                  <c:v>380</c:v>
                </c:pt>
                <c:pt idx="2">
                  <c:v>320</c:v>
                </c:pt>
                <c:pt idx="3">
                  <c:v>250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3E81-4DAA-B321-54650A1A261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B2A4A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1B2A4A"/>
                </a:solidFill>
                <a:latin typeface="Arial"/>
              </a:rPr>
              <a:t>Category Share (%)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B034-4F17-93C0-EFA3FE006957}"/>
              </c:ext>
            </c:extLst>
          </c:dPt>
          <c:dPt>
            <c:idx val="1"/>
            <c:bubble3D val="0"/>
            <c:spPr>
              <a:solidFill>
                <a:srgbClr val="7C3AE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B034-4F17-93C0-EFA3FE006957}"/>
              </c:ext>
            </c:extLst>
          </c:dPt>
          <c:dPt>
            <c:idx val="2"/>
            <c:bubble3D val="0"/>
            <c:spPr>
              <a:solidFill>
                <a:srgbClr val="0369A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B034-4F17-93C0-EFA3FE006957}"/>
              </c:ext>
            </c:extLst>
          </c:dPt>
          <c:dPt>
            <c:idx val="3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B034-4F17-93C0-EFA3FE006957}"/>
              </c:ext>
            </c:extLst>
          </c:dPt>
          <c:dPt>
            <c:idx val="4"/>
            <c:bubble3D val="0"/>
            <c:spPr>
              <a:solidFill>
                <a:srgbClr val="94A3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B034-4F17-93C0-EFA3FE006957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B034-4F17-93C0-EFA3FE006957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B034-4F17-93C0-EFA3FE006957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B034-4F17-93C0-EFA3FE006957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B034-4F17-93C0-EFA3FE006957}"/>
                </c:ext>
              </c:extLst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B034-4F17-93C0-EFA3FE006957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Sheet1!$A$2:$A$6</c:f>
              <c:strCache>
                <c:ptCount val="5"/>
                <c:pt idx="0">
                  <c:v>Electronics</c:v>
                </c:pt>
                <c:pt idx="1">
                  <c:v>Grocery</c:v>
                </c:pt>
                <c:pt idx="2">
                  <c:v>Clothing</c:v>
                </c:pt>
                <c:pt idx="3">
                  <c:v>Home &amp; Kitchen</c:v>
                </c:pt>
                <c:pt idx="4">
                  <c:v>Other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35</c:v>
                </c:pt>
                <c:pt idx="1">
                  <c:v>25</c:v>
                </c:pt>
                <c:pt idx="2">
                  <c:v>18</c:v>
                </c:pt>
                <c:pt idx="3">
                  <c:v>14</c:v>
                </c:pt>
                <c:pt idx="4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B034-4F17-93C0-EFA3FE00695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B2A4A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1B2A4A"/>
                </a:solidFill>
                <a:latin typeface="Arial"/>
              </a:rPr>
              <a:t>Category Orders by Gender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Male</c:v>
                </c:pt>
              </c:strCache>
            </c:strRef>
          </c:tx>
          <c:spPr>
            <a:solidFill>
              <a:srgbClr val="0369A1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Electronics</c:v>
                </c:pt>
                <c:pt idx="1">
                  <c:v>Grocery</c:v>
                </c:pt>
                <c:pt idx="2">
                  <c:v>Clothing</c:v>
                </c:pt>
                <c:pt idx="3">
                  <c:v>Home &amp; Kitchen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42</c:v>
                </c:pt>
                <c:pt idx="1">
                  <c:v>28</c:v>
                </c:pt>
                <c:pt idx="2">
                  <c:v>15</c:v>
                </c:pt>
                <c:pt idx="3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1B2-441F-B2DC-3BF4A8751DE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Female</c:v>
                </c:pt>
              </c:strCache>
            </c:strRef>
          </c:tx>
          <c:spPr>
            <a:solidFill>
              <a:srgbClr val="EC4899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Electronics</c:v>
                </c:pt>
                <c:pt idx="1">
                  <c:v>Grocery</c:v>
                </c:pt>
                <c:pt idx="2">
                  <c:v>Clothing</c:v>
                </c:pt>
                <c:pt idx="3">
                  <c:v>Home &amp; Kitchen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22</c:v>
                </c:pt>
                <c:pt idx="1">
                  <c:v>30</c:v>
                </c:pt>
                <c:pt idx="2">
                  <c:v>32</c:v>
                </c:pt>
                <c:pt idx="3">
                  <c:v>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1B2-441F-B2DC-3BF4A8751DE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B2A4A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1B2A4A"/>
                </a:solidFill>
                <a:latin typeface="Arial"/>
              </a:rPr>
              <a:t>Payment Method Share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Transactions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2156-4C12-B3EA-23ED5F742674}"/>
              </c:ext>
            </c:extLst>
          </c:dPt>
          <c:dPt>
            <c:idx val="1"/>
            <c:bubble3D val="0"/>
            <c:spPr>
              <a:solidFill>
                <a:srgbClr val="7C3AE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2156-4C12-B3EA-23ED5F742674}"/>
              </c:ext>
            </c:extLst>
          </c:dPt>
          <c:dPt>
            <c:idx val="2"/>
            <c:bubble3D val="0"/>
            <c:spPr>
              <a:solidFill>
                <a:srgbClr val="0369A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2156-4C12-B3EA-23ED5F742674}"/>
              </c:ext>
            </c:extLst>
          </c:dPt>
          <c:dPt>
            <c:idx val="3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2156-4C12-B3EA-23ED5F742674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2156-4C12-B3EA-23ED5F742674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2156-4C12-B3EA-23ED5F742674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2156-4C12-B3EA-23ED5F742674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2156-4C12-B3EA-23ED5F742674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bKash</c:v>
                </c:pt>
                <c:pt idx="1">
                  <c:v>Nagad</c:v>
                </c:pt>
                <c:pt idx="2">
                  <c:v>Card</c:v>
                </c:pt>
                <c:pt idx="3">
                  <c:v>COD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38</c:v>
                </c:pt>
                <c:pt idx="1">
                  <c:v>28</c:v>
                </c:pt>
                <c:pt idx="2">
                  <c:v>22</c:v>
                </c:pt>
                <c:pt idx="3">
                  <c:v>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2156-4C12-B3EA-23ED5F74267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723729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23960" y="0"/>
            <a:ext cx="320040" cy="5143500"/>
          </a:xfrm>
          <a:prstGeom prst="rect">
            <a:avLst/>
          </a:prstGeom>
          <a:solidFill>
            <a:srgbClr val="0D9488">
              <a:alpha val="40000"/>
            </a:srgbClr>
          </a:solidFill>
          <a:ln w="12700">
            <a:solidFill>
              <a:srgbClr val="0D9488">
                <a:alpha val="4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822960"/>
            <a:ext cx="7863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UrbanCart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Shop Analytics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286000" y="2606040"/>
            <a:ext cx="4572000" cy="36576"/>
          </a:xfrm>
          <a:prstGeom prst="rect">
            <a:avLst/>
          </a:prstGeom>
          <a:solidFill>
            <a:srgbClr val="0D9488">
              <a:alpha val="60000"/>
            </a:srgbClr>
          </a:solidFill>
          <a:ln w="12700">
            <a:solidFill>
              <a:srgbClr val="0D9488">
                <a:alpha val="6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8346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Project  |  25 Business Questions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4048298"/>
            <a:ext cx="7863840" cy="8458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 pitchFamily="34" charset="-120"/>
              </a:rPr>
              <a:t>BY </a:t>
            </a:r>
          </a:p>
          <a:p>
            <a:pPr marL="0" indent="0" algn="ctr">
              <a:buNone/>
            </a:pPr>
            <a:r>
              <a:rPr lang="en-US" sz="2400" dirty="0">
                <a:solidFill>
                  <a:schemeClr val="bg1"/>
                </a:solidFill>
                <a:latin typeface="Centaur" panose="02030504050205020304" pitchFamily="18" charset="0"/>
                <a:ea typeface="Cambria Math" panose="02040503050406030204" pitchFamily="18" charset="0"/>
                <a:cs typeface="Calibri" pitchFamily="34" charset="-120"/>
              </a:rPr>
              <a:t>IFTEKHAR AHMED</a:t>
            </a:r>
          </a:p>
          <a:p>
            <a:pPr algn="ctr"/>
            <a:r>
              <a:rPr lang="en-US" sz="24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Calibri" pitchFamily="34" charset="-120"/>
              </a:rPr>
              <a:t>Instructor : </a:t>
            </a:r>
            <a:r>
              <a:rPr lang="en-US" sz="2400" dirty="0">
                <a:solidFill>
                  <a:schemeClr val="bg1"/>
                </a:solidFill>
                <a:latin typeface="Centaur" panose="02030504050205020304" pitchFamily="18" charset="0"/>
                <a:ea typeface="Cambria Math" panose="02040503050406030204" pitchFamily="18" charset="0"/>
                <a:cs typeface="Calibri" pitchFamily="34" charset="-120"/>
              </a:rPr>
              <a:t>Tanvir Taushif (Data Analyst @Cartup)</a:t>
            </a:r>
            <a:endParaRPr lang="en-US" sz="2400" dirty="0">
              <a:solidFill>
                <a:schemeClr val="bg1"/>
              </a:solidFill>
              <a:highlight>
                <a:srgbClr val="808080"/>
              </a:highlight>
              <a:latin typeface="Centaur" panose="02030504050205020304" pitchFamily="18" charset="0"/>
              <a:ea typeface="Cambria Math" panose="020405030504060302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64008" cy="594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Background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393192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18872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UrbanCart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94360" y="1664208"/>
            <a:ext cx="356616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UrbanCart</a:t>
            </a: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a growing online retail shop operating across multiple cities in Bangladesh.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Goals: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revenue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product bundling &amp; recommendations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customer purchasing behavior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 inventory &amp; payment methods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663440" y="1051560"/>
            <a:ext cx="402336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00600" y="118872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800600" y="1691640"/>
            <a:ext cx="3749040" cy="42062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92040" y="176479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DimCustomers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995160" y="176479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customers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800600" y="2203704"/>
            <a:ext cx="37490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92040" y="227685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DimProducts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995160" y="227685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 products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800600" y="2715768"/>
            <a:ext cx="3749040" cy="42062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92040" y="27889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FactOrders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995160" y="27889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1,200 orders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00600" y="3227832"/>
            <a:ext cx="37490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2040" y="330098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FactOrderItems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995160" y="330098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4,800 line items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800600" y="3739896"/>
            <a:ext cx="3749040" cy="42062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92040" y="381304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FactPayment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995160" y="381304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1,200 payments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Period: September – December 2025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64008" cy="594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Business Questions — Scope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97764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397764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4241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Orders &amp; Revenue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48640" y="1417320"/>
            <a:ext cx="379476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Total Orders   ·   Q2 City Orders &amp; Revenue   ·   Q4 Monthly Trend   ·   Q6 Total Revenue   ·   Q9 AOV &amp; Basket Size   ·   Q25 Daily Report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663440" y="1005840"/>
            <a:ext cx="397764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1005840"/>
            <a:ext cx="3977640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0" y="104241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🛒  Products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754880" y="1417320"/>
            <a:ext cx="379476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Q7 Category Revenue   ·   Q8 Top Products   ·   Q10 Stock-Out Risk   ·   Q22 Price vs Category Avg   ·   Q23 Frequent Pairs   ·   Q24 High-Revenue Pairs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3017520"/>
            <a:ext cx="397764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3017520"/>
            <a:ext cx="3977640" cy="347472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05409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 Customers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48640" y="3429000"/>
            <a:ext cx="379476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Gmail %   ·   Q11 Top Customers   ·   Q12 Cancellation Rate   ·   Q13 Gender Patterns   ·   Q14 Behavior Over Time   ·   Q15–16 Oct/Dec Orders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63440" y="3017520"/>
            <a:ext cx="397764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63440" y="3017520"/>
            <a:ext cx="3977640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0" y="305409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💳  Payments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754880" y="3429000"/>
            <a:ext cx="379476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Q17 Payment Methods   ·   Q18 Method vs Status   ·   Q19 City Preferences   ·   Q20 High-Value Orders   ·   Q21 Avg Items/Method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91440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914400" y="192024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&amp; Revenue Insights</a:t>
            </a:r>
            <a:endParaRPr lang="en-US" sz="3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64008" cy="594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Performance Indicators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· Total Orders   |   Q6 · Total Revenue   |   Q9 · AOV &amp; Basket Size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201168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71600"/>
            <a:ext cx="2011680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60020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1,200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48640" y="251460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86207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— All time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633472" y="1371600"/>
            <a:ext cx="201168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633472" y="1371600"/>
            <a:ext cx="2011680" cy="1097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24912" y="160020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৳4.8M+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2724912" y="251460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724912" y="286207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Q6 — Completed orders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809744" y="1371600"/>
            <a:ext cx="201168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809744" y="1371600"/>
            <a:ext cx="2011680" cy="109728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01184" y="160020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৳4,012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4901184" y="251460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Order Value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01184" y="286207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Q9 — AOV (completed)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986016" y="1371600"/>
            <a:ext cx="201168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986016" y="1371600"/>
            <a:ext cx="2011680" cy="1097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77456" y="160020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4.0 items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7077456" y="251460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Basket Size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077456" y="286207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Q9 — Per order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94360" y="3931920"/>
            <a:ext cx="7955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Insight: With 1,200 orders and an AOV of ৳4,012, UrbanCart processes a high transaction volume. Increasing the basket size from 4 items to 5 would directly drive a ~25% revenue uplift without new customer acquisition.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64008" cy="594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Performance &amp; Monthly Trend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· Revenue by City   |   Q4 · Monthly Order Trend</a:t>
            </a:r>
            <a:endParaRPr lang="en-US" sz="1200" dirty="0"/>
          </a:p>
        </p:txBody>
      </p:sp>
      <p:graphicFrame>
        <p:nvGraphicFramePr>
          <p:cNvPr id="5" name="Chart 0"/>
          <p:cNvGraphicFramePr/>
          <p:nvPr>
            <p:extLst>
              <p:ext uri="{D42A27DB-BD31-4B8C-83A1-F6EECF244321}">
                <p14:modId xmlns:p14="http://schemas.microsoft.com/office/powerpoint/2010/main" val="1865104443"/>
              </p:ext>
            </p:extLst>
          </p:nvPr>
        </p:nvGraphicFramePr>
        <p:xfrm>
          <a:off x="457200" y="1280160"/>
          <a:ext cx="411480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Chart 1"/>
          <p:cNvGraphicFramePr/>
          <p:nvPr/>
        </p:nvGraphicFramePr>
        <p:xfrm>
          <a:off x="4846320" y="1280160"/>
          <a:ext cx="384048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91440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914400" y="192024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Insights</a:t>
            </a:r>
            <a:endParaRPr lang="en-US" sz="3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64008" cy="594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Revenue &amp; Top Products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Q7 · Revenue by Category   |   Q8 · Top Revenue Products</a:t>
            </a:r>
            <a:endParaRPr lang="en-US" sz="12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1280160"/>
          <a:ext cx="393192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4663440" y="1280160"/>
            <a:ext cx="402336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4800600" y="1417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Revenue Products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800600" y="1874520"/>
            <a:ext cx="3749040" cy="4114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864608" y="1947672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120640" y="194767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TV 43"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315200" y="194767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৳248K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800600" y="2377440"/>
            <a:ext cx="37490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864608" y="2450592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120640" y="24505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Laptop 15"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7315200" y="245059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৳215K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800600" y="2880360"/>
            <a:ext cx="3749040" cy="4114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864608" y="2953512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5120640" y="295351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Refrigerator 250L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7315200" y="29535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৳198K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800600" y="3383280"/>
            <a:ext cx="37490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864608" y="3456432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5120640" y="345643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Rice Cooker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7315200" y="345643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৳154K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800600" y="3886200"/>
            <a:ext cx="3749040" cy="41148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864608" y="3959352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5120640" y="395935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Winter Jacket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7315200" y="395935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৳132K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64008" cy="594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Risk · Pricing · Product Bundling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Q10 · Stock-Out Risk   |   Q22 · Price vs Avg   |   Q23–24 · Product Pairs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265176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280160"/>
            <a:ext cx="2651760" cy="34747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31673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Stock-Out Risk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178308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Miniket Rice 5kg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2258568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Smart TV 43"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2734056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Laptop 15"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4360" y="3209544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Cotton T-Shirt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" y="3685032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Running Shoes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91840" y="1280160"/>
            <a:ext cx="265176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91840" y="1280160"/>
            <a:ext cx="2651760" cy="347472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83280" y="131673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Price vs Category Avg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401568" y="1737360"/>
            <a:ext cx="242316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which products are priced above or below their category average.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use: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overpriced slow-movers for discounting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underpriced high-sellers for margin improvement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 category-level pricing strategy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26480" y="1280160"/>
            <a:ext cx="256032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26480" y="1280160"/>
            <a:ext cx="256032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7920" y="131673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Top Product Pairs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236208" y="1737360"/>
            <a:ext cx="233172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Q23 — Frequently bought together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cross-sell recommendations and bundle design.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Q24 — Highest revenue pairs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combos drive maximum basket value — ideal for featured bundles and promotional packs.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514350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91440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914400" y="192024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Insights</a:t>
            </a:r>
            <a:endParaRPr lang="en-US" sz="3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64008" cy="594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Base &amp; Cancellations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· Gmail Usage   |   Q11 · Top Customers   |   Q12 · Cancellation Rate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210312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4173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Gmail Users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182880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72%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594360" y="269748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customers use Gmail — a strong digital marketing channel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88920" y="1280160"/>
            <a:ext cx="589788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926080" y="1389888"/>
            <a:ext cx="5577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Customers by Revenue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788920" y="1810512"/>
            <a:ext cx="5897880" cy="32004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880360" y="1865376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Rahim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46320" y="1865376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Dhaka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858000" y="1865376"/>
            <a:ext cx="1645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৳32,400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88920" y="2139696"/>
            <a:ext cx="589788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880360" y="2194560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Fatema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46320" y="2194560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Chattogram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858000" y="2194560"/>
            <a:ext cx="1645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৳29,800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88920" y="2468880"/>
            <a:ext cx="5897880" cy="32004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880360" y="2523744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Karim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46320" y="2523744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Rajshahi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858000" y="2523744"/>
            <a:ext cx="1645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৳27,100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788920" y="2798064"/>
            <a:ext cx="589788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880360" y="2852928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Nusrat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46320" y="2852928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Khulna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858000" y="2852928"/>
            <a:ext cx="1645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৳25,500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788920" y="3127248"/>
            <a:ext cx="5897880" cy="32004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880360" y="3182112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Hasan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846320" y="3182112"/>
            <a:ext cx="1828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Dhaka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858000" y="3182112"/>
            <a:ext cx="1645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৳24,900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57200" y="3749040"/>
            <a:ext cx="822960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594360" y="385876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Q12 — Cancellation Rate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94360" y="420624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Cities with the highest cancellation rates indicate fulfilment or logistics issues. Customers with &gt;50% cancellation rate should be flagged for proactive outreach to understand pain points and reduce churn.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64008" cy="594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7432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 Patterns · Behavior Over Time · Seasonal Loyalty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Q13 · Gender Purchasing   |   Q14 · Behavior Since Signup   |   Q15/Q16 · Oct–Dec Ordering</a:t>
            </a:r>
            <a:endParaRPr lang="en-US" sz="12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1280160"/>
          <a:ext cx="4114800" cy="3108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4754880" y="1280160"/>
            <a:ext cx="393192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4892040" y="1371600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Q14 — Behavior Since Account Creation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892040" y="1755648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function tracks cumulative orders &amp; revenue per customer since signup — reveals loyalty curve and identifies early high-value customers.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754880" y="2880360"/>
            <a:ext cx="182880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54880" y="2880360"/>
            <a:ext cx="1828800" cy="329184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846320" y="291693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Q15 — Oct Only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846320" y="3273552"/>
            <a:ext cx="1645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active in Oct but lost by Dec → re-engagement targets for Q1 campaigns.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6766560" y="2880360"/>
            <a:ext cx="192024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766560" y="2880360"/>
            <a:ext cx="1920240" cy="32918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858000" y="2916936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Q16 — Oct + Dec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858000" y="3273552"/>
            <a:ext cx="1737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 customers ordered in both months → prime segment for VIP or subscription offers.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91440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914400" y="192024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Insights</a:t>
            </a:r>
            <a:endParaRPr lang="en-US" sz="3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64008" cy="594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Method Analysis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Q17 · Usage   |   Q18 · Method vs Status   |   Q19 · City Preferences   |   Q20/21 · Value &amp; Items</a:t>
            </a:r>
            <a:endParaRPr lang="en-US" sz="12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1234440"/>
          <a:ext cx="347472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4160520" y="1234440"/>
            <a:ext cx="233172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160520" y="1234440"/>
            <a:ext cx="2331720" cy="32004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251960" y="1280160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Q18 · Method vs Status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251960" y="1618488"/>
            <a:ext cx="2148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 orders have a significantly higher cancellation rate compared to digital payments — indicating commitment risk when payment is deferred.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675120" y="1234440"/>
            <a:ext cx="233172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675120" y="1234440"/>
            <a:ext cx="2331720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766560" y="1280160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Q19 · City Preferences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766560" y="1618488"/>
            <a:ext cx="2148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bKash dominates across Dhaka and Chattogram. COD is more common in smaller cities — reflecting digital payment adoption gaps.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160520" y="2834640"/>
            <a:ext cx="233172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160520" y="2834640"/>
            <a:ext cx="2331720" cy="3200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251960" y="2880360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Q20 · High-Value &amp; Method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4251960" y="3218688"/>
            <a:ext cx="2148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payments are associated with higher order values, suggesting premium buyers prefer card. Upselling to card payers may yield higher AOV.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6675120" y="2834640"/>
            <a:ext cx="233172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675120" y="2834640"/>
            <a:ext cx="2331720" cy="3200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766560" y="2880360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Q21 · Avg Items / Method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6766560" y="3218688"/>
            <a:ext cx="2148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bKash and Nagad users place orders with slightly more items on average — supporting mobile-first bundle promotions.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514350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731520"/>
            <a:ext cx="7315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2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914400" y="187452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Appendix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914400" y="26974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25 queries — PostgreSQL / pgAdmin 4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32918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Schema: public   |   Tables: DimCustomers · DimProducts · FactOrders · FactOrderItems · FactPayment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Appendix — Q1 to Q4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274320" y="6400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640080"/>
            <a:ext cx="3703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886968"/>
            <a:ext cx="4160520" cy="18745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978408"/>
            <a:ext cx="38862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COUNT(order_id) AS total_orders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FactOrders;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274320" y="28803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31520" y="2880360"/>
            <a:ext cx="3703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orders &amp; revenue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" y="3127248"/>
            <a:ext cx="4160520" cy="18745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11480" y="3218688"/>
            <a:ext cx="38862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c.city,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COUNT(DISTINCT o.order_id) AS total_orders,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SUM(oi.quantity * p.unit_price) AS total_revenue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FactOrders o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DimCustomers c ON o.customer_id = c.customer_id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FactOrderItems oi ON o.order_id = oi.order_id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DimProducts p ON oi.product_id = p.product_id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o.status = 'Completed'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c.city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total_revenue DESC;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663440" y="6400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120640" y="640080"/>
            <a:ext cx="3703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Gmail percentage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663440" y="886968"/>
            <a:ext cx="4160520" cy="18745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00600" y="978408"/>
            <a:ext cx="38862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ROUND(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100.0 * COUNT(*) FILTER (WHERE email ILIKE '%@gmail.com')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 COUNT(*), 2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AS gmail_percentage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DimCustomers;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663440" y="28803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120640" y="2880360"/>
            <a:ext cx="3703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order trend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663440" y="3127248"/>
            <a:ext cx="4160520" cy="18745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800600" y="3218688"/>
            <a:ext cx="38862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TO_CHAR(TO_DATE(order_date,'MM/DD/YYYY'),'YYYY-MM') AS year_month,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COUNT(order_id) AS total_orders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FactOrders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year_month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year_month;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Appendix — Q6 to Q9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274320" y="6400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640080"/>
            <a:ext cx="3703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886968"/>
            <a:ext cx="4160520" cy="18745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978408"/>
            <a:ext cx="38862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SUM(oi.quantity * p.unit_price) AS total_revenue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FactOrders o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FactOrderItems oi ON o.order_id = oi.order_id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DimProducts p ON oi.product_id = p.product_id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o.status = 'Completed';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274320" y="28803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Q7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31520" y="2880360"/>
            <a:ext cx="3703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revenue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" y="3127248"/>
            <a:ext cx="4160520" cy="18745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11480" y="3218688"/>
            <a:ext cx="38862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p.category,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SUM(oi.quantity * p.unit_price) AS category_revenue,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ROUND(100.0 * SUM(oi.quantity * p.unit_price)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 SUM(SUM(oi.quantity * p.unit_price)) OVER (), 2) AS revenue_pct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FactOrders o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FactOrderItems oi ON o.order_id = oi.order_id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DimProducts p ON oi.product_id = p.product_id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o.status = 'Completed'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p.category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category_revenue DESC;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663440" y="6400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Q8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120640" y="640080"/>
            <a:ext cx="3703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products by revenue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663440" y="886968"/>
            <a:ext cx="4160520" cy="18745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00600" y="978408"/>
            <a:ext cx="38862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p.product_name, p.category,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SUM(oi.quantity * p.unit_price) AS product_revenue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FactOrders o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FactOrderItems oi ON o.order_id = oi.order_id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DimProducts p ON oi.product_id = p.product_id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o.status = 'Completed'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p.product_name, p.category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product_revenue DESC LIMIT 10;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663440" y="28803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Q9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120640" y="2880360"/>
            <a:ext cx="3703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AOV &amp; Avg Basket Size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663440" y="3127248"/>
            <a:ext cx="4160520" cy="18745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800600" y="3218688"/>
            <a:ext cx="38862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order_totals AS (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SELECT o.order_id,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SUM(oi.quantity * p.unit_price) AS order_value,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SUM(oi.quantity) AS basket_size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FROM FactOrders o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JOIN FactOrderItems oi ON o.order_id = oi.order_id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JOIN DimProducts p ON oi.product_id = p.product_id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WHERE o.status = 'Completed'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GROUP BY o.order_id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ROUND(AVG(order_value),2) AS avg_order_value,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ROUND(AVG(basket_size),2) AS avg_basket_size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order_totals;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Appendix — Q10 to Q13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274320" y="6400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640080"/>
            <a:ext cx="3703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Stock-out risk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886968"/>
            <a:ext cx="4160520" cy="18745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978408"/>
            <a:ext cx="38862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p.product_name, p.stock AS current_stock,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SUM(oi.quantity) AS total_units_sold,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p.stock - SUM(oi.quantity) AS remaining_stock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FactOrders o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FactOrderItems oi ON o.order_id = oi.order_id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DimProducts p ON oi.product_id = p.product_id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o.status = 'Completed'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p.product_name, p.stock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remaining_stock ASC LIMIT 10;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274320" y="28803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31520" y="2880360"/>
            <a:ext cx="3703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customers by revenue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" y="3127248"/>
            <a:ext cx="4160520" cy="18745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11480" y="3218688"/>
            <a:ext cx="38862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c.customer_id, c.full_name, c.city,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SUM(oi.quantity * p.unit_price) AS total_spent,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COUNT(DISTINCT o.order_id) AS total_orders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FactOrders o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DimCustomers c ON o.customer_id = c.customer_id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FactOrderItems oi ON o.order_id = oi.order_id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DimProducts p ON oi.product_id = p.product_id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o.status = 'Completed'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c.customer_id, c.full_name, c.city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total_spent DESC LIMIT 10;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663440" y="6400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120640" y="640080"/>
            <a:ext cx="3703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Cancellation rate by city &amp; customer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663440" y="886968"/>
            <a:ext cx="4160520" cy="18745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00600" y="978408"/>
            <a:ext cx="38862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By city: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c.city,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COUNT(o.order_id) FILTER (WHERE o.status='Cancelled')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AS cancelled,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ROUND(100.0 * COUNT(*) FILTER (WHERE o.status='Cancelled')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 COUNT(*), 2) AS cancel_pct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FactOrders o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DimCustomers c ON o.customer_id=c.customer_id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c.city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cancel_pct DESC;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663440" y="28803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Q13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120640" y="2880360"/>
            <a:ext cx="3703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 purchasing patterns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663440" y="3127248"/>
            <a:ext cx="4160520" cy="18745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800600" y="3218688"/>
            <a:ext cx="38862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c.Gender, p.category,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COUNT(DISTINCT o.order_id) AS total_orders,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SUM(oi.quantity * p.unit_price) AS total_revenue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FactOrders o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DimCustomers c ON o.customer_id = c.customer_id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FactOrderItems oi ON o.order_id = oi.order_id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DimProducts p ON oi.product_id = p.product_id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o.status = 'Completed'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c.Gender, p.category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c.Gender, total_revenue DESC;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Appendix — Q14 to Q17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274320" y="6400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640080"/>
            <a:ext cx="3703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 since account creation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886968"/>
            <a:ext cx="4160520" cy="18745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978408"/>
            <a:ext cx="38862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c.customer_id, c.full_name,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TO_DATE(o.order_date,'MM/DD/YYYY') AS order_date,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TO_DATE(o.order_date,'MM/DD/YYYY')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 TO_DATE(c.created_at,'MM/DD/YYYY') AS days_since_signup,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COUNT(o.order_id) OVER (PARTITION BY c.customer_id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ORDER BY TO_DATE(o.order_date,'MM/DD/YYYY'))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AS cumulative_orders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FactOrders o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DimCustomers c ON o.customer_id = c.customer_id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FactOrderItems oi ON o.order_id = oi.order_id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DimProducts p ON oi.product_id = p.product_id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o.status = 'Completed'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c.customer_id, order_date;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274320" y="28803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31520" y="2880360"/>
            <a:ext cx="3703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Ordered Oct but NOT Dec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" y="3127248"/>
            <a:ext cx="4160520" cy="18745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11480" y="3218688"/>
            <a:ext cx="38862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DISTINCT c.customer_id, c.full_name, c.city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FactOrders o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DimCustomers c ON o.customer_id = c.customer_id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EXTRACT(MONTH FROM TO_DATE(o.order_date,'MM/DD/YYYY'))=10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AND c.customer_id NOT IN (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SELECT DISTINCT customer_id FROM FactOrders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WHERE EXTRACT(MONTH FROM TO_DATE(order_date,'MM/DD/YYYY'))=12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);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663440" y="6400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Q16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120640" y="640080"/>
            <a:ext cx="3703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Ordered BOTH Oct AND Dec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663440" y="886968"/>
            <a:ext cx="4160520" cy="18745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00600" y="978408"/>
            <a:ext cx="38862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DISTINCT c.customer_id, c.full_name, c.city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DimCustomers c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c.customer_id IN (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SELECT customer_id FROM FactOrders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WHERE EXTRACT(MONTH FROM TO_DATE(order_date,'MM/DD/YYYY'))=10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AND c.customer_id IN (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SELECT customer_id FROM FactOrders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WHERE EXTRACT(MONTH FROM TO_DATE(order_date,'MM/DD/YYYY'))=12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);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663440" y="28803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Q17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120640" y="2880360"/>
            <a:ext cx="3703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method frequency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663440" y="3127248"/>
            <a:ext cx="4160520" cy="18745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800600" y="3218688"/>
            <a:ext cx="38862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method,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COUNT(payment_id) AS total_transactions,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ROUND(100.0*COUNT(payment_id)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/SUM(COUNT(payment_id)) OVER (), 2) AS usage_pct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FactPayment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method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total_transactions DESC;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Appendix — Q18 to Q21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274320" y="6400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Q18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640080"/>
            <a:ext cx="3703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method vs order status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886968"/>
            <a:ext cx="4160520" cy="18745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978408"/>
            <a:ext cx="38862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fp.method, o.status,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COUNT(o.order_id) AS total_orders,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ROUND(100.0*COUNT(o.order_id)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/SUM(COUNT(o.order_id)) OVER (PARTITION BY fp.method),2)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AS status_pct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FactOrders o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FactPayment fp ON o.order_id = fp.order_id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fp.method, o.status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fp.method, o.status;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274320" y="28803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Q19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31520" y="2880360"/>
            <a:ext cx="3703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payment preferences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" y="3127248"/>
            <a:ext cx="4160520" cy="18745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11480" y="3218688"/>
            <a:ext cx="38862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c.city, fp.method,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COUNT(fp.payment_id) AS total_transactions,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ROUND(100.0*COUNT(fp.payment_id)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/SUM(COUNT(fp.payment_id)) OVER (PARTITION BY c.city),2)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AS city_method_pct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FactOrders o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DimCustomers c ON o.customer_id = c.customer_id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FactPayment fp ON o.order_id = fp.order_id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c.city, fp.method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c.city, total_transactions DESC;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663440" y="6400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Q20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120640" y="640080"/>
            <a:ext cx="3703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High-value orders by payment method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663440" y="886968"/>
            <a:ext cx="4160520" cy="18745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00600" y="978408"/>
            <a:ext cx="38862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fp.method,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ROUND(AVG(oi.quantity * p.unit_price),2) AS avg_order_value,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MAX(oi.quantity * p.unit_price) AS max_order_value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FactOrders o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FactPayment fp ON o.order_id = fp.order_id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FactOrderItems oi ON o.order_id = oi.order_id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DimProducts p ON oi.product_id = p.product_id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o.status = 'Completed'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fp.method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avg_order_value DESC;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663440" y="28803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Q21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120640" y="2880360"/>
            <a:ext cx="3703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items per order by payment method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663440" y="3127248"/>
            <a:ext cx="4160520" cy="18745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800600" y="3218688"/>
            <a:ext cx="38862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fp.method,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ROUND(AVG(item_count), 2) AS avg_items_per_order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FactPayment fp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(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SELECT order_id, SUM(quantity) AS item_count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FROM FactOrderItems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GROUP BY order_id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oi ON fp.order_id = oi.order_id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fp.method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avg_items_per_order DESC;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Appendix — Q22 to Q25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274320" y="6400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640080"/>
            <a:ext cx="3703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vs category average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886968"/>
            <a:ext cx="4160520" cy="18745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978408"/>
            <a:ext cx="38862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product_name, category, unit_price,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ROUND(AVG(unit_price) OVER (PARTITION BY category),2)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AS category_avg_price,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ROUND(unit_price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 AVG(unit_price) OVER (PARTITION BY category),2)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AS price_diff_from_avg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DimProducts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category, price_diff_from_avg DESC;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274320" y="28803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31520" y="2880360"/>
            <a:ext cx="3703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Frequent product pairs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" y="3127248"/>
            <a:ext cx="4160520" cy="18745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11480" y="3218688"/>
            <a:ext cx="38862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p1.product_name AS product_1,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p2.product_name AS product_2,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COUNT(*) AS times_bought_together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FactOrderItems oi1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FactOrderItems oi2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ON oi1.order_id = oi2.order_id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AND oi1.product_id &lt; oi2.product_id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DimProducts p1 ON oi1.product_id = p1.product_id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DimProducts p2 ON oi2.product_id = p2.product_id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p1.product_name, p2.product_name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times_bought_together DESC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LIMIT 10;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663440" y="6400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Q24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120640" y="640080"/>
            <a:ext cx="3703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revenue product pairs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663440" y="866602"/>
            <a:ext cx="4160520" cy="18745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663440" y="886968"/>
            <a:ext cx="38862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p1.product_name AS product_1,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p2.product_name AS product_2,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SUM((oi1.quantity*p1.unit_price)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+(oi2.quantity*p2.unit_price)) AS combined_revenue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FactOrders o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FactOrderItems oi1 ON o.order_id = oi1.order_id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FactOrderItems oi2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ON oi1.order_id = oi2.order_id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AND oi1.product_id &lt; oi2.product_id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DimProducts p1 ON oi1.product_id = p1.product_id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DimProducts p2 ON oi2.product_id = p2.product_id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o.status = 'Completed'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p1.product_name, p2.product_name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combined_revenue DESC LIMIT 10;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663440" y="28803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Q25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120640" y="2880360"/>
            <a:ext cx="3703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report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663440" y="3035808"/>
            <a:ext cx="4160520" cy="18745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663440" y="3108960"/>
            <a:ext cx="38862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TO_DATE(o.order_date,'MM/DD/YYYY') AS report_date,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COUNT(DISTINCT o.order_id) AS total_orders,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SUM(oi.quantity) AS total_items,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COUNT(DISTINCT o.order_id)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FILTER (WHERE o.status='Completed') AS completed,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COUNT(DISTINCT o.order_id)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FILTER (WHERE o.status='Cancelled') AS cancelled,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COALESCE(SUM(CASE WHEN o.status='Completed'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THEN oi.quantity*p.unit_price ELSE 0 END),0)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AS total_revenue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FactOrders o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FactOrderItems oi ON o.order_id = oi.order_id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DimProducts p ON oi.product_id = p.product_id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report_date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report_date;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23960" y="0"/>
            <a:ext cx="320040" cy="5143500"/>
          </a:xfrm>
          <a:prstGeom prst="rect">
            <a:avLst/>
          </a:prstGeom>
          <a:solidFill>
            <a:srgbClr val="0D9488">
              <a:alpha val="40000"/>
            </a:srgbClr>
          </a:solidFill>
          <a:ln w="12700">
            <a:solidFill>
              <a:srgbClr val="0D9488">
                <a:alpha val="4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640080" y="251460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UrbanCart Retail Shop Analytics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1367</TotalTime>
  <Words>3463</Words>
  <Application>Microsoft Office PowerPoint</Application>
  <PresentationFormat>On-screen Show (16:9)</PresentationFormat>
  <Paragraphs>462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Arial</vt:lpstr>
      <vt:lpstr>Calibri</vt:lpstr>
      <vt:lpstr>Cambria Math</vt:lpstr>
      <vt:lpstr>Centaur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UrbanCart Retail Shop Analytics</dc:title>
  <dc:subject>PptxGenJS Presentation</dc:subject>
  <dc:creator>Data Analyst</dc:creator>
  <cp:lastModifiedBy>Uer</cp:lastModifiedBy>
  <cp:revision>5</cp:revision>
  <dcterms:created xsi:type="dcterms:W3CDTF">2026-04-16T01:36:42Z</dcterms:created>
  <dcterms:modified xsi:type="dcterms:W3CDTF">2026-04-18T15:55:30Z</dcterms:modified>
</cp:coreProperties>
</file>